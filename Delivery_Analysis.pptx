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8288000" cy="10287000"/>
  <p:notesSz cx="6858000" cy="9144000"/>
  <p:embeddedFontLst>
    <p:embeddedFont>
      <p:font typeface="Red Hat Display" panose="020B0604020202020204" charset="0"/>
      <p:regular r:id="rId16"/>
    </p:embeddedFont>
    <p:embeddedFont>
      <p:font typeface="Red Hat Display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461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6841024" y="8809224"/>
            <a:ext cx="2955552" cy="2955552"/>
          </a:xfrm>
          <a:custGeom>
            <a:avLst/>
            <a:gdLst/>
            <a:ahLst/>
            <a:cxnLst/>
            <a:rect l="l" t="t" r="r" b="b"/>
            <a:pathLst>
              <a:path w="2955552" h="2955552">
                <a:moveTo>
                  <a:pt x="0" y="0"/>
                </a:moveTo>
                <a:lnTo>
                  <a:pt x="2955552" y="0"/>
                </a:lnTo>
                <a:lnTo>
                  <a:pt x="2955552" y="2955552"/>
                </a:lnTo>
                <a:lnTo>
                  <a:pt x="0" y="2955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1145942" y="-1117627"/>
            <a:ext cx="2567741" cy="2282080"/>
          </a:xfrm>
          <a:custGeom>
            <a:avLst/>
            <a:gdLst/>
            <a:ahLst/>
            <a:cxnLst/>
            <a:rect l="l" t="t" r="r" b="b"/>
            <a:pathLst>
              <a:path w="2567741" h="2282080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38247" y="1739899"/>
            <a:ext cx="11611507" cy="3024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SWIGGY FOOD DELIVERY ANALYTICS-</a:t>
            </a:r>
          </a:p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TRANSFORMING RAW DATA INTO BUSINESS DECISIONS</a:t>
            </a:r>
          </a:p>
          <a:p>
            <a:pPr algn="ctr">
              <a:lnSpc>
                <a:spcPts val="6019"/>
              </a:lnSpc>
            </a:pPr>
            <a:endParaRPr lang="en-US" sz="42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404115" y="7832594"/>
            <a:ext cx="5479770" cy="147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u="sng" dirty="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Presented by: Anirban Chatterjee</a:t>
            </a:r>
          </a:p>
          <a:p>
            <a:pPr algn="ctr">
              <a:lnSpc>
                <a:spcPts val="3919"/>
              </a:lnSpc>
            </a:pPr>
            <a:endParaRPr lang="en-US" sz="2799" b="1" u="sng" dirty="0">
              <a:solidFill>
                <a:srgbClr val="473D34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338247" y="5076825"/>
            <a:ext cx="11611507" cy="172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END-TO-END ANALYTICS PROJECT</a:t>
            </a:r>
          </a:p>
          <a:p>
            <a:pPr algn="ctr">
              <a:lnSpc>
                <a:spcPts val="4619"/>
              </a:lnSpc>
            </a:pPr>
            <a:r>
              <a:rPr lang="en-US" sz="32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PYTHON | SQL | POWER BI</a:t>
            </a:r>
          </a:p>
          <a:p>
            <a:pPr algn="just">
              <a:lnSpc>
                <a:spcPts val="4619"/>
              </a:lnSpc>
            </a:pPr>
            <a:endParaRPr lang="en-US" sz="3299" b="1">
              <a:solidFill>
                <a:srgbClr val="473D34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30557" y="-817999"/>
            <a:ext cx="2163303" cy="1635998"/>
          </a:xfrm>
          <a:custGeom>
            <a:avLst/>
            <a:gdLst/>
            <a:ahLst/>
            <a:cxnLst/>
            <a:rect l="l" t="t" r="r" b="b"/>
            <a:pathLst>
              <a:path w="2163303" h="1635998">
                <a:moveTo>
                  <a:pt x="0" y="0"/>
                </a:moveTo>
                <a:lnTo>
                  <a:pt x="2163303" y="0"/>
                </a:lnTo>
                <a:lnTo>
                  <a:pt x="2163303" y="1635998"/>
                </a:lnTo>
                <a:lnTo>
                  <a:pt x="0" y="1635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6298108" y="8412318"/>
            <a:ext cx="2868318" cy="2868318"/>
          </a:xfrm>
          <a:custGeom>
            <a:avLst/>
            <a:gdLst/>
            <a:ahLst/>
            <a:cxnLst/>
            <a:rect l="l" t="t" r="r" b="b"/>
            <a:pathLst>
              <a:path w="2868318" h="2868318">
                <a:moveTo>
                  <a:pt x="0" y="0"/>
                </a:moveTo>
                <a:lnTo>
                  <a:pt x="2868319" y="0"/>
                </a:lnTo>
                <a:lnTo>
                  <a:pt x="2868319" y="2868318"/>
                </a:lnTo>
                <a:lnTo>
                  <a:pt x="0" y="2868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94653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BUSINESS CONTEXT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41053" y="3591598"/>
            <a:ext cx="15605894" cy="550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Food delivery platforms operate in a highly competitive, time-critical environment where:</a:t>
            </a:r>
          </a:p>
          <a:p>
            <a:pPr algn="l">
              <a:lnSpc>
                <a:spcPts val="6299"/>
              </a:lnSpc>
            </a:pPr>
            <a:endParaRPr lang="en-US" sz="44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971539" lvl="1" indent="-485769" algn="l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Customer satisfaction</a:t>
            </a:r>
          </a:p>
          <a:p>
            <a:pPr marL="971539" lvl="1" indent="-485769" algn="l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Delivery speed</a:t>
            </a:r>
          </a:p>
          <a:p>
            <a:pPr marL="971539" lvl="1" indent="-485769" algn="l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Pricing perception</a:t>
            </a:r>
          </a:p>
          <a:p>
            <a:pPr marL="971539" lvl="1" indent="-485769" algn="l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Restaurant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13249" y="-899750"/>
            <a:ext cx="1830923" cy="2209259"/>
          </a:xfrm>
          <a:custGeom>
            <a:avLst/>
            <a:gdLst/>
            <a:ahLst/>
            <a:cxnLst/>
            <a:rect l="l" t="t" r="r" b="b"/>
            <a:pathLst>
              <a:path w="1830923" h="2209259">
                <a:moveTo>
                  <a:pt x="0" y="0"/>
                </a:moveTo>
                <a:lnTo>
                  <a:pt x="1830924" y="0"/>
                </a:lnTo>
                <a:lnTo>
                  <a:pt x="1830924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0800000">
            <a:off x="-1808216" y="8956043"/>
            <a:ext cx="2884684" cy="2928613"/>
          </a:xfrm>
          <a:custGeom>
            <a:avLst/>
            <a:gdLst/>
            <a:ahLst/>
            <a:cxnLst/>
            <a:rect l="l" t="t" r="r" b="b"/>
            <a:pathLst>
              <a:path w="2884684" h="2928613">
                <a:moveTo>
                  <a:pt x="0" y="0"/>
                </a:moveTo>
                <a:lnTo>
                  <a:pt x="2884684" y="0"/>
                </a:lnTo>
                <a:lnTo>
                  <a:pt x="2884684" y="2928613"/>
                </a:lnTo>
                <a:lnTo>
                  <a:pt x="0" y="2928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00105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BUSINESS 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068600"/>
            <a:ext cx="15784549" cy="7536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endParaRPr/>
          </a:p>
          <a:p>
            <a:pPr algn="l">
              <a:lnSpc>
                <a:spcPts val="4619"/>
              </a:lnSpc>
            </a:pPr>
            <a:endParaRPr/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Despite large volumes of restaurant and customer data, key business questions often remain unclear:</a:t>
            </a:r>
          </a:p>
          <a:p>
            <a:pPr algn="l">
              <a:lnSpc>
                <a:spcPts val="4619"/>
              </a:lnSpc>
            </a:pPr>
            <a:endParaRPr lang="en-US" sz="32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Does higher pricing actually translate to better customer satisfaction?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How strongly does delivery speed impact customer ratings?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Are there city-level operational differences that require targeted strategies?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Which restaurants should be promoted, improved, or reconsidered?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Which cuisines consistently deliver better customer experience?</a:t>
            </a:r>
          </a:p>
          <a:p>
            <a:pPr algn="l">
              <a:lnSpc>
                <a:spcPts val="4619"/>
              </a:lnSpc>
            </a:pPr>
            <a:endParaRPr lang="en-US" sz="32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This project aims to answer these questions using a data-driven approach.</a:t>
            </a:r>
          </a:p>
          <a:p>
            <a:pPr algn="l">
              <a:lnSpc>
                <a:spcPts val="4619"/>
              </a:lnSpc>
            </a:pPr>
            <a:endParaRPr lang="en-US" sz="32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92295">
            <a:off x="15574036" y="-2030504"/>
            <a:ext cx="4228265" cy="4522209"/>
          </a:xfrm>
          <a:custGeom>
            <a:avLst/>
            <a:gdLst/>
            <a:ahLst/>
            <a:cxnLst/>
            <a:rect l="l" t="t" r="r" b="b"/>
            <a:pathLst>
              <a:path w="4228265" h="4522209">
                <a:moveTo>
                  <a:pt x="0" y="0"/>
                </a:moveTo>
                <a:lnTo>
                  <a:pt x="4228265" y="0"/>
                </a:lnTo>
                <a:lnTo>
                  <a:pt x="4228265" y="4522209"/>
                </a:lnTo>
                <a:lnTo>
                  <a:pt x="0" y="45222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239592" y="9047408"/>
            <a:ext cx="2479183" cy="2479183"/>
          </a:xfrm>
          <a:custGeom>
            <a:avLst/>
            <a:gdLst/>
            <a:ahLst/>
            <a:cxnLst/>
            <a:rect l="l" t="t" r="r" b="b"/>
            <a:pathLst>
              <a:path w="2479183" h="2479183">
                <a:moveTo>
                  <a:pt x="0" y="0"/>
                </a:moveTo>
                <a:lnTo>
                  <a:pt x="2479184" y="0"/>
                </a:lnTo>
                <a:lnTo>
                  <a:pt x="2479184" y="2479184"/>
                </a:lnTo>
                <a:lnTo>
                  <a:pt x="0" y="24791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57150" y="87523"/>
            <a:ext cx="744669" cy="419506"/>
          </a:xfrm>
          <a:custGeom>
            <a:avLst/>
            <a:gdLst/>
            <a:ahLst/>
            <a:cxnLst/>
            <a:rect l="l" t="t" r="r" b="b"/>
            <a:pathLst>
              <a:path w="744669" h="419506">
                <a:moveTo>
                  <a:pt x="0" y="0"/>
                </a:moveTo>
                <a:lnTo>
                  <a:pt x="744669" y="0"/>
                </a:lnTo>
                <a:lnTo>
                  <a:pt x="744669" y="419505"/>
                </a:lnTo>
                <a:lnTo>
                  <a:pt x="0" y="4195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16607" b="-28450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192501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DATA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217858"/>
            <a:ext cx="16019708" cy="782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endParaRPr dirty="0"/>
          </a:p>
          <a:p>
            <a:pPr algn="l">
              <a:lnSpc>
                <a:spcPts val="4199"/>
              </a:lnSpc>
            </a:pPr>
            <a:endParaRPr dirty="0"/>
          </a:p>
          <a:p>
            <a:pPr algn="l">
              <a:lnSpc>
                <a:spcPts val="4199"/>
              </a:lnSpc>
            </a:pPr>
            <a:r>
              <a:rPr lang="en-US" sz="29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analysis is based on a multi-city food delivery restaurant dataset where: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Each record represents one restaurant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Key attributes include: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647697" lvl="1" indent="-323848" algn="l">
              <a:lnSpc>
                <a:spcPts val="4199"/>
              </a:lnSpc>
              <a:buAutoNum type="arabicPeriod"/>
            </a:pPr>
            <a:r>
              <a:rPr lang="en-US" sz="29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Average price for two</a:t>
            </a:r>
          </a:p>
          <a:p>
            <a:pPr marL="647697" lvl="1" indent="-323848" algn="l">
              <a:lnSpc>
                <a:spcPts val="4199"/>
              </a:lnSpc>
              <a:buAutoNum type="arabicPeriod"/>
            </a:pPr>
            <a:r>
              <a:rPr lang="en-US" sz="29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Customer ratings and review volume</a:t>
            </a:r>
          </a:p>
          <a:p>
            <a:pPr marL="647697" lvl="1" indent="-323848" algn="l">
              <a:lnSpc>
                <a:spcPts val="4199"/>
              </a:lnSpc>
              <a:buAutoNum type="arabicPeriod"/>
            </a:pPr>
            <a:r>
              <a:rPr lang="en-US" sz="29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Delivery speed category</a:t>
            </a:r>
          </a:p>
          <a:p>
            <a:pPr marL="647697" lvl="1" indent="-323848" algn="l">
              <a:lnSpc>
                <a:spcPts val="4199"/>
              </a:lnSpc>
              <a:buAutoNum type="arabicPeriod"/>
            </a:pPr>
            <a:r>
              <a:rPr lang="en-US" sz="29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City and cuisine information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199"/>
              </a:lnSpc>
            </a:pPr>
            <a:r>
              <a:rPr lang="en-US" sz="29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dataset was cleaned, standardized, and feature-engineered to make it suitable for business analysis and executive reporting.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10430" y="-2620458"/>
            <a:ext cx="5497739" cy="5401529"/>
          </a:xfrm>
          <a:custGeom>
            <a:avLst/>
            <a:gdLst/>
            <a:ahLst/>
            <a:cxnLst/>
            <a:rect l="l" t="t" r="r" b="b"/>
            <a:pathLst>
              <a:path w="5497739" h="5401529">
                <a:moveTo>
                  <a:pt x="0" y="0"/>
                </a:moveTo>
                <a:lnTo>
                  <a:pt x="5497740" y="0"/>
                </a:lnTo>
                <a:lnTo>
                  <a:pt x="5497740" y="5401528"/>
                </a:lnTo>
                <a:lnTo>
                  <a:pt x="0" y="5401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3111360" y="643951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61599" y="8973278"/>
            <a:ext cx="497701" cy="462129"/>
          </a:xfrm>
          <a:custGeom>
            <a:avLst/>
            <a:gdLst/>
            <a:ahLst/>
            <a:cxnLst/>
            <a:rect l="l" t="t" r="r" b="b"/>
            <a:pathLst>
              <a:path w="497701" h="462129">
                <a:moveTo>
                  <a:pt x="0" y="0"/>
                </a:moveTo>
                <a:lnTo>
                  <a:pt x="497701" y="0"/>
                </a:lnTo>
                <a:lnTo>
                  <a:pt x="497701" y="462128"/>
                </a:lnTo>
                <a:lnTo>
                  <a:pt x="0" y="4621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20991" b="-13800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116414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ANALYTICS APPROACH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290529"/>
            <a:ext cx="16230600" cy="8405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endParaRPr/>
          </a:p>
          <a:p>
            <a:pPr algn="l">
              <a:lnSpc>
                <a:spcPts val="4479"/>
              </a:lnSpc>
            </a:pPr>
            <a:endParaRPr/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project follows a complete end-to-end analytics workflow: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Cleaning &amp; Feature Engineering (Python)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Handling missing values and inconsistencies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Creating business-friendly metrics such as price bands and delivery speed categories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Business Logic &amp; Querying (SQL)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Structuring the data for analytical use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Supporting KPI and segmentation logic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KPI Modeling &amp; Visualization (Power BI)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Designing executive-level dashboards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Creating DAX measures for performance and SLA tracking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Delivering insights through structured storytelling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963944">
            <a:off x="-1587857" y="8091432"/>
            <a:ext cx="4124456" cy="4011033"/>
          </a:xfrm>
          <a:custGeom>
            <a:avLst/>
            <a:gdLst/>
            <a:ahLst/>
            <a:cxnLst/>
            <a:rect l="l" t="t" r="r" b="b"/>
            <a:pathLst>
              <a:path w="4124456" h="4011033">
                <a:moveTo>
                  <a:pt x="0" y="0"/>
                </a:moveTo>
                <a:lnTo>
                  <a:pt x="4124456" y="0"/>
                </a:lnTo>
                <a:lnTo>
                  <a:pt x="4124456" y="4011033"/>
                </a:lnTo>
                <a:lnTo>
                  <a:pt x="0" y="4011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7282237" y="6613367"/>
            <a:ext cx="543968" cy="538529"/>
          </a:xfrm>
          <a:custGeom>
            <a:avLst/>
            <a:gdLst/>
            <a:ahLst/>
            <a:cxnLst/>
            <a:rect l="l" t="t" r="r" b="b"/>
            <a:pathLst>
              <a:path w="543968" h="538529">
                <a:moveTo>
                  <a:pt x="0" y="0"/>
                </a:moveTo>
                <a:lnTo>
                  <a:pt x="543968" y="0"/>
                </a:lnTo>
                <a:lnTo>
                  <a:pt x="543968" y="538528"/>
                </a:lnTo>
                <a:lnTo>
                  <a:pt x="0" y="538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476962" y="-666750"/>
            <a:ext cx="2502687" cy="2493302"/>
          </a:xfrm>
          <a:custGeom>
            <a:avLst/>
            <a:gdLst/>
            <a:ahLst/>
            <a:cxnLst/>
            <a:rect l="l" t="t" r="r" b="b"/>
            <a:pathLst>
              <a:path w="2502687" h="2493302">
                <a:moveTo>
                  <a:pt x="0" y="0"/>
                </a:moveTo>
                <a:lnTo>
                  <a:pt x="2502687" y="0"/>
                </a:lnTo>
                <a:lnTo>
                  <a:pt x="2502687" y="2493302"/>
                </a:lnTo>
                <a:lnTo>
                  <a:pt x="0" y="24933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181255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KEY METRICS CREATED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868170"/>
            <a:ext cx="16230600" cy="757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endParaRPr dirty="0"/>
          </a:p>
          <a:p>
            <a:pPr algn="l">
              <a:lnSpc>
                <a:spcPts val="4339"/>
              </a:lnSpc>
            </a:pPr>
            <a:endParaRPr dirty="0"/>
          </a:p>
          <a:p>
            <a:pPr algn="l">
              <a:lnSpc>
                <a:spcPts val="4339"/>
              </a:lnSpc>
            </a:pPr>
            <a:r>
              <a:rPr lang="en-US" sz="30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 align raw data with business decision-making, the following derived metrics were created:</a:t>
            </a:r>
          </a:p>
          <a:p>
            <a:pPr algn="l">
              <a:lnSpc>
                <a:spcPts val="4339"/>
              </a:lnSpc>
            </a:pPr>
            <a:endParaRPr lang="en-US" sz="3099" dirty="0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339"/>
              </a:lnSpc>
            </a:pPr>
            <a:endParaRPr lang="en-US" sz="3099" dirty="0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en-US" sz="30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Price Category: Budget, Mid-Range, Premium</a:t>
            </a: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en-US" sz="30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Delivery Category: Fast, Moderate, Slow</a:t>
            </a: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en-US" sz="30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Popularity Indicator: Based on customer review volume</a:t>
            </a: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en-US" sz="30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Performance Segments: Rating vs Popularity quadrants</a:t>
            </a: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en-US" sz="30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SLA Metric: Percentage of fast deliveries</a:t>
            </a:r>
          </a:p>
          <a:p>
            <a:pPr algn="l">
              <a:lnSpc>
                <a:spcPts val="4339"/>
              </a:lnSpc>
            </a:pPr>
            <a:endParaRPr lang="en-US" sz="3099" dirty="0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339"/>
              </a:lnSpc>
            </a:pPr>
            <a:endParaRPr lang="en-US" sz="3099" dirty="0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339"/>
              </a:lnSpc>
            </a:pPr>
            <a:r>
              <a:rPr lang="en-US" sz="30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These metrics simplify complex data into decision-ready indicators.</a:t>
            </a:r>
          </a:p>
          <a:p>
            <a:pPr algn="l">
              <a:lnSpc>
                <a:spcPts val="4339"/>
              </a:lnSpc>
            </a:pPr>
            <a:endParaRPr lang="en-US" sz="3099" dirty="0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47193" y="9332703"/>
            <a:ext cx="1894386" cy="954297"/>
          </a:xfrm>
          <a:custGeom>
            <a:avLst/>
            <a:gdLst/>
            <a:ahLst/>
            <a:cxnLst/>
            <a:rect l="l" t="t" r="r" b="b"/>
            <a:pathLst>
              <a:path w="1894386" h="954297">
                <a:moveTo>
                  <a:pt x="0" y="0"/>
                </a:moveTo>
                <a:lnTo>
                  <a:pt x="1894386" y="0"/>
                </a:lnTo>
                <a:lnTo>
                  <a:pt x="1894386" y="954297"/>
                </a:lnTo>
                <a:lnTo>
                  <a:pt x="0" y="9542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7169848" y="0"/>
            <a:ext cx="2236304" cy="2057400"/>
          </a:xfrm>
          <a:custGeom>
            <a:avLst/>
            <a:gdLst/>
            <a:ahLst/>
            <a:cxnLst/>
            <a:rect l="l" t="t" r="r" b="b"/>
            <a:pathLst>
              <a:path w="2236304" h="2057400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360680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DASHBOARD STRUCTURE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356995"/>
            <a:ext cx="16230600" cy="835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endParaRPr/>
          </a:p>
          <a:p>
            <a:pPr algn="l">
              <a:lnSpc>
                <a:spcPts val="4199"/>
              </a:lnSpc>
            </a:pPr>
            <a:endParaRPr/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Power BI dashboard is structured to follow a logical business flow: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Page 1: Executive Overview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Overall platform scale, reach, ratings, pricing, and delivery health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Page 2: Pricing &amp; Customer Insights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Relationship between cost and customer satisfaction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Page 3: Delivery &amp; Operations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SLA performance and city-level operational efficiency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Page 4: Restaurant Strategy &amp; Segmentation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Identification of high performers, under-utilized assets, and risk areas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87689">
            <a:off x="14854537" y="-1431903"/>
            <a:ext cx="5415105" cy="3438591"/>
          </a:xfrm>
          <a:custGeom>
            <a:avLst/>
            <a:gdLst/>
            <a:ahLst/>
            <a:cxnLst/>
            <a:rect l="l" t="t" r="r" b="b"/>
            <a:pathLst>
              <a:path w="5415105" h="3438591">
                <a:moveTo>
                  <a:pt x="0" y="0"/>
                </a:moveTo>
                <a:lnTo>
                  <a:pt x="5415105" y="0"/>
                </a:lnTo>
                <a:lnTo>
                  <a:pt x="5415105" y="3438592"/>
                </a:lnTo>
                <a:lnTo>
                  <a:pt x="0" y="343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118152" y="8229600"/>
            <a:ext cx="2236304" cy="2057400"/>
          </a:xfrm>
          <a:custGeom>
            <a:avLst/>
            <a:gdLst/>
            <a:ahLst/>
            <a:cxnLst/>
            <a:rect l="l" t="t" r="r" b="b"/>
            <a:pathLst>
              <a:path w="2236304" h="2057400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82618"/>
            <a:ext cx="18288000" cy="92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INSIGHT 1: PRICING VS CUSTOMER SATISFACTION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31899"/>
            <a:ext cx="16230600" cy="8026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endParaRPr/>
          </a:p>
          <a:p>
            <a:pPr algn="l">
              <a:lnSpc>
                <a:spcPts val="4899"/>
              </a:lnSpc>
            </a:pPr>
            <a:endParaRPr/>
          </a:p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Finding: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Higher pricing does not consistently result in higher customer ratings.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Business Interpretation: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Customer satisfaction is driven more by overall experience and service quality than by price alone.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Strategic Implication: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Instead of relying on premium positioning, platforms should prioritize operational excellence and consistent service quality to improve ratings and retention.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87689">
            <a:off x="14854537" y="-1431903"/>
            <a:ext cx="5415105" cy="3438591"/>
          </a:xfrm>
          <a:custGeom>
            <a:avLst/>
            <a:gdLst/>
            <a:ahLst/>
            <a:cxnLst/>
            <a:rect l="l" t="t" r="r" b="b"/>
            <a:pathLst>
              <a:path w="5415105" h="3438591">
                <a:moveTo>
                  <a:pt x="0" y="0"/>
                </a:moveTo>
                <a:lnTo>
                  <a:pt x="5415105" y="0"/>
                </a:lnTo>
                <a:lnTo>
                  <a:pt x="5415105" y="3438592"/>
                </a:lnTo>
                <a:lnTo>
                  <a:pt x="0" y="343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118152" y="8229600"/>
            <a:ext cx="2236304" cy="2057400"/>
          </a:xfrm>
          <a:custGeom>
            <a:avLst/>
            <a:gdLst/>
            <a:ahLst/>
            <a:cxnLst/>
            <a:rect l="l" t="t" r="r" b="b"/>
            <a:pathLst>
              <a:path w="2236304" h="2057400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78726" y="8547518"/>
            <a:ext cx="500635" cy="564968"/>
          </a:xfrm>
          <a:custGeom>
            <a:avLst/>
            <a:gdLst/>
            <a:ahLst/>
            <a:cxnLst/>
            <a:rect l="l" t="t" r="r" b="b"/>
            <a:pathLst>
              <a:path w="500635" h="564968">
                <a:moveTo>
                  <a:pt x="0" y="0"/>
                </a:moveTo>
                <a:lnTo>
                  <a:pt x="500635" y="0"/>
                </a:lnTo>
                <a:lnTo>
                  <a:pt x="500635" y="564968"/>
                </a:lnTo>
                <a:lnTo>
                  <a:pt x="0" y="5649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1412" r="-82197" b="-3003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182618"/>
            <a:ext cx="18288000" cy="92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INSIGHT 2: DELIVERY SPEED IMPACT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231899"/>
            <a:ext cx="16230600" cy="8026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endParaRPr/>
          </a:p>
          <a:p>
            <a:pPr algn="l">
              <a:lnSpc>
                <a:spcPts val="4899"/>
              </a:lnSpc>
            </a:pPr>
            <a:endParaRPr/>
          </a:p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Finding: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Restaurants with faster delivery times consistently achieve higher customer ratings.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Business Interpretation: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Delivery speed strongly influences perceived quality and customer trust.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Strategic Implication: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Tracking fast-delivery SLA metrics and optimizing last-mile operations can directly improve customer satisfaction and platform reputation.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87689">
            <a:off x="14854537" y="-1431903"/>
            <a:ext cx="5415105" cy="3438591"/>
          </a:xfrm>
          <a:custGeom>
            <a:avLst/>
            <a:gdLst/>
            <a:ahLst/>
            <a:cxnLst/>
            <a:rect l="l" t="t" r="r" b="b"/>
            <a:pathLst>
              <a:path w="5415105" h="3438591">
                <a:moveTo>
                  <a:pt x="0" y="0"/>
                </a:moveTo>
                <a:lnTo>
                  <a:pt x="5415105" y="0"/>
                </a:lnTo>
                <a:lnTo>
                  <a:pt x="5415105" y="3438592"/>
                </a:lnTo>
                <a:lnTo>
                  <a:pt x="0" y="343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118152" y="8229600"/>
            <a:ext cx="2236304" cy="2057400"/>
          </a:xfrm>
          <a:custGeom>
            <a:avLst/>
            <a:gdLst/>
            <a:ahLst/>
            <a:cxnLst/>
            <a:rect l="l" t="t" r="r" b="b"/>
            <a:pathLst>
              <a:path w="2236304" h="2057400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82618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INSIGHT 3: CITY-LEVEL OPERATIONAL VARIATION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86789"/>
            <a:ext cx="16230600" cy="8516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endParaRPr/>
          </a:p>
          <a:p>
            <a:pPr algn="l">
              <a:lnSpc>
                <a:spcPts val="5179"/>
              </a:lnSpc>
            </a:pPr>
            <a:endParaRPr/>
          </a:p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Finding: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Restaurant density and delivery performance vary significantly across cities.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Business Interpretation: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uniform operational strategy does not address local challenges and opportunities.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Strategic Implication: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City-specific benchmarks and targeted operational improvements are required to optimize performance at scale.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87689">
            <a:off x="14854537" y="-1431903"/>
            <a:ext cx="5415105" cy="3438591"/>
          </a:xfrm>
          <a:custGeom>
            <a:avLst/>
            <a:gdLst/>
            <a:ahLst/>
            <a:cxnLst/>
            <a:rect l="l" t="t" r="r" b="b"/>
            <a:pathLst>
              <a:path w="5415105" h="3438591">
                <a:moveTo>
                  <a:pt x="0" y="0"/>
                </a:moveTo>
                <a:lnTo>
                  <a:pt x="5415105" y="0"/>
                </a:lnTo>
                <a:lnTo>
                  <a:pt x="5415105" y="3438592"/>
                </a:lnTo>
                <a:lnTo>
                  <a:pt x="0" y="343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118152" y="8229600"/>
            <a:ext cx="2236304" cy="2057400"/>
          </a:xfrm>
          <a:custGeom>
            <a:avLst/>
            <a:gdLst/>
            <a:ahLst/>
            <a:cxnLst/>
            <a:rect l="l" t="t" r="r" b="b"/>
            <a:pathLst>
              <a:path w="2236304" h="2057400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82618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STRATEGIC RESTAURANT SEGMENTATION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30556"/>
            <a:ext cx="16230600" cy="838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endParaRPr/>
          </a:p>
          <a:p>
            <a:pPr algn="l">
              <a:lnSpc>
                <a:spcPts val="4759"/>
              </a:lnSpc>
            </a:pPr>
            <a:endParaRPr/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Restaurants were segmented using Rating and Popularity into four strategic groups: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734055" lvl="1" indent="-367027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High Rating &amp; High Popularity – Core performers to promote and retain</a:t>
            </a:r>
          </a:p>
          <a:p>
            <a:pPr marL="734055" lvl="1" indent="-367027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High Rating &amp; Low Popularity – High-quality but under-discovered restaurants</a:t>
            </a:r>
          </a:p>
          <a:p>
            <a:pPr marL="734055" lvl="1" indent="-367027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Low Rating &amp; High Popularity – High demand but quality improvement needed</a:t>
            </a:r>
          </a:p>
          <a:p>
            <a:pPr marL="734055" lvl="1" indent="-367027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Low Rating &amp; Low Popularity – Candidates for re-evaluation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This segmentation supports data-driven promotion, quality control, and partner management decisions.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87689">
            <a:off x="14854537" y="-1431903"/>
            <a:ext cx="5415105" cy="3438591"/>
          </a:xfrm>
          <a:custGeom>
            <a:avLst/>
            <a:gdLst/>
            <a:ahLst/>
            <a:cxnLst/>
            <a:rect l="l" t="t" r="r" b="b"/>
            <a:pathLst>
              <a:path w="5415105" h="3438591">
                <a:moveTo>
                  <a:pt x="0" y="0"/>
                </a:moveTo>
                <a:lnTo>
                  <a:pt x="5415105" y="0"/>
                </a:lnTo>
                <a:lnTo>
                  <a:pt x="5415105" y="3438592"/>
                </a:lnTo>
                <a:lnTo>
                  <a:pt x="0" y="343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118152" y="8229600"/>
            <a:ext cx="2236304" cy="2057400"/>
          </a:xfrm>
          <a:custGeom>
            <a:avLst/>
            <a:gdLst/>
            <a:ahLst/>
            <a:cxnLst/>
            <a:rect l="l" t="t" r="r" b="b"/>
            <a:pathLst>
              <a:path w="2236304" h="2057400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82618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CUISINE-LEVEL PERFORMANCE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88747"/>
            <a:ext cx="16230600" cy="917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endParaRPr/>
          </a:p>
          <a:p>
            <a:pPr algn="l">
              <a:lnSpc>
                <a:spcPts val="5179"/>
              </a:lnSpc>
            </a:pPr>
            <a:endParaRPr/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Cuisine analysis reveals variations in: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Customer satisfaction</a:t>
            </a:r>
          </a:p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Popularity</a:t>
            </a:r>
          </a:p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Delivery efficiency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Some cuisines consistently outperform others, indicating opportunities for: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Focused onboarding strategies</a:t>
            </a:r>
          </a:p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Promotion of high-performing cuisine categories</a:t>
            </a:r>
          </a:p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Better alignment of supply with customer demand patterns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87689">
            <a:off x="14854537" y="-1431903"/>
            <a:ext cx="5415105" cy="3438591"/>
          </a:xfrm>
          <a:custGeom>
            <a:avLst/>
            <a:gdLst/>
            <a:ahLst/>
            <a:cxnLst/>
            <a:rect l="l" t="t" r="r" b="b"/>
            <a:pathLst>
              <a:path w="5415105" h="3438591">
                <a:moveTo>
                  <a:pt x="0" y="0"/>
                </a:moveTo>
                <a:lnTo>
                  <a:pt x="5415105" y="0"/>
                </a:lnTo>
                <a:lnTo>
                  <a:pt x="5415105" y="3438592"/>
                </a:lnTo>
                <a:lnTo>
                  <a:pt x="0" y="343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118152" y="8229600"/>
            <a:ext cx="2236304" cy="2057400"/>
          </a:xfrm>
          <a:custGeom>
            <a:avLst/>
            <a:gdLst/>
            <a:ahLst/>
            <a:cxnLst/>
            <a:rect l="l" t="t" r="r" b="b"/>
            <a:pathLst>
              <a:path w="2236304" h="2057400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82618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BUSINESS VALUE DELIVERED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329640"/>
            <a:ext cx="16230600" cy="722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endParaRPr/>
          </a:p>
          <a:p>
            <a:pPr algn="l">
              <a:lnSpc>
                <a:spcPts val="5739"/>
              </a:lnSpc>
            </a:pPr>
            <a:endParaRPr/>
          </a:p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This analytics solution enables:</a:t>
            </a:r>
          </a:p>
          <a:p>
            <a:pPr algn="l">
              <a:lnSpc>
                <a:spcPts val="5739"/>
              </a:lnSpc>
            </a:pPr>
            <a:endParaRPr lang="en-US" sz="40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885181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SLA-based delivery performance monitoring</a:t>
            </a:r>
          </a:p>
          <a:p>
            <a:pPr marL="885181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City-level operational benchmarking</a:t>
            </a:r>
          </a:p>
          <a:p>
            <a:pPr marL="885181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Smarter restaurant promotion and visibility strategies</a:t>
            </a:r>
          </a:p>
          <a:p>
            <a:pPr marL="885181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Identification of under-utilized high-quality partners</a:t>
            </a:r>
          </a:p>
          <a:p>
            <a:pPr marL="885181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Data-driven strategic planning for growth and optimization</a:t>
            </a:r>
          </a:p>
          <a:p>
            <a:pPr algn="l">
              <a:lnSpc>
                <a:spcPts val="5739"/>
              </a:lnSpc>
            </a:pPr>
            <a:endParaRPr lang="en-US" sz="40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18235" y="4453009"/>
            <a:ext cx="16141065" cy="1249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5"/>
              </a:lnSpc>
            </a:pPr>
            <a:endParaRPr dirty="0"/>
          </a:p>
          <a:p>
            <a:pPr algn="l">
              <a:lnSpc>
                <a:spcPts val="5015"/>
              </a:lnSpc>
            </a:pPr>
            <a:endParaRPr lang="en-US" sz="3582" b="1" dirty="0">
              <a:solidFill>
                <a:srgbClr val="473D34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3" name="Freeform 3"/>
          <p:cNvSpPr/>
          <p:nvPr/>
        </p:nvSpPr>
        <p:spPr>
          <a:xfrm rot="-10800000">
            <a:off x="16838861" y="8953061"/>
            <a:ext cx="2667877" cy="2667877"/>
          </a:xfrm>
          <a:custGeom>
            <a:avLst/>
            <a:gdLst/>
            <a:ahLst/>
            <a:cxnLst/>
            <a:rect l="l" t="t" r="r" b="b"/>
            <a:pathLst>
              <a:path w="2667877" h="2667877">
                <a:moveTo>
                  <a:pt x="0" y="0"/>
                </a:moveTo>
                <a:lnTo>
                  <a:pt x="2667878" y="0"/>
                </a:lnTo>
                <a:lnTo>
                  <a:pt x="2667878" y="2667878"/>
                </a:lnTo>
                <a:lnTo>
                  <a:pt x="0" y="26678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18235" y="-1118235"/>
            <a:ext cx="2236470" cy="2236470"/>
          </a:xfrm>
          <a:custGeom>
            <a:avLst/>
            <a:gdLst/>
            <a:ahLst/>
            <a:cxnLst/>
            <a:rect l="l" t="t" r="r" b="b"/>
            <a:pathLst>
              <a:path w="2236470" h="2236470">
                <a:moveTo>
                  <a:pt x="0" y="0"/>
                </a:moveTo>
                <a:lnTo>
                  <a:pt x="2236470" y="0"/>
                </a:lnTo>
                <a:lnTo>
                  <a:pt x="2236470" y="2236470"/>
                </a:lnTo>
                <a:lnTo>
                  <a:pt x="0" y="2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545472" y="5844691"/>
            <a:ext cx="575016" cy="575016"/>
          </a:xfrm>
          <a:custGeom>
            <a:avLst/>
            <a:gdLst/>
            <a:ahLst/>
            <a:cxnLst/>
            <a:rect l="l" t="t" r="r" b="b"/>
            <a:pathLst>
              <a:path w="575016" h="575016">
                <a:moveTo>
                  <a:pt x="0" y="0"/>
                </a:moveTo>
                <a:lnTo>
                  <a:pt x="575016" y="0"/>
                </a:lnTo>
                <a:lnTo>
                  <a:pt x="575016" y="575017"/>
                </a:lnTo>
                <a:lnTo>
                  <a:pt x="0" y="575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43601" y="2733001"/>
            <a:ext cx="10690332" cy="2024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3"/>
              </a:lnSpc>
            </a:pPr>
            <a:r>
              <a:rPr lang="en-US" sz="11802" b="1" dirty="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716</Words>
  <Application>Microsoft Office PowerPoint</Application>
  <PresentationFormat>Custom</PresentationFormat>
  <Paragraphs>154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Red Hat Display</vt:lpstr>
      <vt:lpstr>Arial</vt:lpstr>
      <vt:lpstr>Calibri</vt:lpstr>
      <vt:lpstr>Red Hat Display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Gray Minimalist and Professional Thesis Defense Presentation </dc:title>
  <cp:lastModifiedBy>Anirban Chatterjee</cp:lastModifiedBy>
  <cp:revision>3</cp:revision>
  <dcterms:created xsi:type="dcterms:W3CDTF">2006-08-16T00:00:00Z</dcterms:created>
  <dcterms:modified xsi:type="dcterms:W3CDTF">2026-09-11T10:48:23Z</dcterms:modified>
  <dc:identifier>DAG-OxDwS4U</dc:identifier>
</cp:coreProperties>
</file>